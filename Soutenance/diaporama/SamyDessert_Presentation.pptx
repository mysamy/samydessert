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&lt;en-tête&gt;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&lt;date/heure&gt;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&lt;pied de page&gt;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F4390B-F313-4B48-8348-7FBB8284A31D}" type="slidenum"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&lt;numéro&gt;</a:t>
            </a:fld>
            <a:endParaRPr b="0" lang="fr-F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7BF9FF-BEEA-4233-AD58-ACAFE4314D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4513E7-F337-41A9-8498-D23D1E26B5E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7ED71-5A0A-4D96-A0DD-76667F4CDDC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64535C-1EF1-45EC-89E1-EA8BD6BE583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FA164E6-7A98-4ABD-A876-0CF3CC05ED0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71FBFC-CA01-4CD0-A98C-062A4F59A9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1BF3C3-50A1-49FB-97C4-32819A9498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A73D55-9716-4FB1-885B-3D85A5A5A9A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DDA9D6-9F47-4FB5-9699-8A7EF1AD82E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820FFA-136C-4913-B62D-32184CD07D8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72F845-0B38-42F1-964C-40FEDF4995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085035-8958-4950-8B6E-7037B47E335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C3531E-3836-452C-98C8-91B18FD878D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D52979-CAB6-4F92-90B6-D3EEC7BAB7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F00479-9C72-4880-85E1-8F1E7FD747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4CE7D-6C9F-4E76-8EB4-C9C013B549D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4B2ABC-1F6F-44F3-B225-34B878AFAE7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CF5FDD-E512-41BB-986F-DB9265ACD83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7AA1C7-D718-46BB-91A8-0AF8F5DCBA6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0DE16E-6DC0-4607-845F-89D22F22563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6097A-5B9E-4376-AD25-DD9654AA79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1C9921-377F-45DD-B8D5-B744A061D93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53FF7E-A25A-40AB-BDB1-2C516C13B2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3EB1A-8DAD-425B-A5ED-C15B92C9146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193F36-A5B0-4B72-AF10-DBDB8E83AEC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7AE3B0-A02F-4698-8B6E-13DDEB8BE12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B2DAA7-88D8-4623-9F26-298BA886EC7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B17756C-8B54-4DC9-B52E-EBB21F6343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C653A2-244A-4727-B2BE-BC8E5BF2112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990E7A-6570-4E93-8886-4E5C6197F0D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b="0" lang="fr-F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b="0" lang="fr-FR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57200" y="10972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SamyDessert</a:t>
            </a:r>
            <a:endParaRPr b="0" lang="fr-F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2286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>
                    <a:alpha val="60000"/>
                  </a:srgbClr>
                </a:solidFill>
                <a:effectLst/>
                <a:uFillTx/>
                <a:latin typeface="Calibri"/>
                <a:ea typeface="Calibri"/>
              </a:rPr>
              <a:t>Boutique en ligne de pâtisseries artisanales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3200400" y="2926080"/>
            <a:ext cx="2742840" cy="411120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3200400" y="29260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Soutenance — Avril 2026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3774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Samy Ben Hamida · Développeur Web</a:t>
            </a:r>
            <a:endParaRPr b="0" lang="fr-FR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fr-FR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Projet de formation — simulation d'un site e-commerce professionnel</a:t>
            </a:r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Sommaire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640080" y="1554480"/>
            <a:ext cx="78634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Contexte &amp; Analyse des besoins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Design &amp; Identité visuelle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Stack &amp; Architecture technique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Fonctionnalités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Qualité &amp; Sécurité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Déploiement &amp; Organisation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6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Bilan &amp; Perspectives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Présentation du projet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C'est quoi SamyDessert ?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5"/>
          <p:cNvSpPr/>
          <p:nvPr/>
        </p:nvSpPr>
        <p:spPr>
          <a:xfrm>
            <a:off x="45720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Une boutique en ligne de pâtisseries artisanales permettant à des clients de 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457200" y="196596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Parcourir un catalogue de produits et recettes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Ajouter des produits au panier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Passer commande et payer en ligne (Stripe)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Recevoir une confirmation par email avec facture PDF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594360" y="397764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Benchmark &amp; Inspiration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Analyse de sites concurrents avant de commencer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45720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Sites étudiés : Angelina Paris · La Maison du Chocolat · Pierre Hermé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57200" y="205740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POINTS RETENUS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410760" y="228564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Mise en avant visuelle des produits 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Navigation claire par catégorie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Identité visuelle forte et cohérente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1"/>
          <a:stretch/>
        </p:blipFill>
        <p:spPr>
          <a:xfrm>
            <a:off x="3818520" y="1980000"/>
            <a:ext cx="5001480" cy="288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Personas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Qui sont les utilisateurs cibles ?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360000" y="1440000"/>
            <a:ext cx="4251600" cy="3498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4719600" y="1440000"/>
            <a:ext cx="4280400" cy="3528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User Flow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Parcours utilisateur principal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180000" y="1527480"/>
            <a:ext cx="8689680" cy="279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Wireframe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Maquettes basse fidélité réalisées avant le développement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5"/>
          <p:cNvSpPr/>
          <p:nvPr/>
        </p:nvSpPr>
        <p:spPr>
          <a:xfrm>
            <a:off x="457200" y="1508760"/>
            <a:ext cx="3862800" cy="65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Permet de valider la structure des pages avant de coder 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457200" y="19659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Disposition des éléments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Navigation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Hiérarchie de l'information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4386600" y="360000"/>
            <a:ext cx="4433400" cy="45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Identité visuelle &amp; Design system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457200" y="15087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PALETTE DE COULEURS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5"/>
          <p:cNvSpPr/>
          <p:nvPr/>
        </p:nvSpPr>
        <p:spPr>
          <a:xfrm>
            <a:off x="457200" y="1783080"/>
            <a:ext cx="639720" cy="639720"/>
          </a:xfrm>
          <a:prstGeom prst="ellipse">
            <a:avLst/>
          </a:prstGeom>
          <a:solidFill>
            <a:srgbClr val="3b1f0e"/>
          </a:solidFill>
          <a:ln w="12700">
            <a:solidFill>
              <a:srgbClr val="ccbb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6"/>
          <p:cNvSpPr/>
          <p:nvPr/>
        </p:nvSpPr>
        <p:spPr>
          <a:xfrm>
            <a:off x="365760" y="24688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Chocolat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#3B1F0E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7"/>
          <p:cNvSpPr/>
          <p:nvPr/>
        </p:nvSpPr>
        <p:spPr>
          <a:xfrm>
            <a:off x="1645920" y="1783080"/>
            <a:ext cx="639720" cy="6397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cbb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1554480" y="24688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Framboise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#C0392B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9"/>
          <p:cNvSpPr/>
          <p:nvPr/>
        </p:nvSpPr>
        <p:spPr>
          <a:xfrm>
            <a:off x="2834640" y="1783080"/>
            <a:ext cx="639720" cy="639720"/>
          </a:xfrm>
          <a:prstGeom prst="ellipse">
            <a:avLst/>
          </a:prstGeom>
          <a:solidFill>
            <a:srgbClr val="7bae7f"/>
          </a:solidFill>
          <a:ln w="12700">
            <a:solidFill>
              <a:srgbClr val="ccbb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0"/>
          <p:cNvSpPr/>
          <p:nvPr/>
        </p:nvSpPr>
        <p:spPr>
          <a:xfrm>
            <a:off x="2743200" y="24688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Pistache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#7BAE7F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1"/>
          <p:cNvSpPr/>
          <p:nvPr/>
        </p:nvSpPr>
        <p:spPr>
          <a:xfrm>
            <a:off x="4023360" y="1783080"/>
            <a:ext cx="639720" cy="639720"/>
          </a:xfrm>
          <a:prstGeom prst="ellipse">
            <a:avLst/>
          </a:prstGeom>
          <a:solidFill>
            <a:srgbClr val="fdf6ec"/>
          </a:solidFill>
          <a:ln w="12700">
            <a:solidFill>
              <a:srgbClr val="ccbb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3931920" y="2468880"/>
            <a:ext cx="822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Crème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6b3520"/>
                </a:solidFill>
                <a:effectLst/>
                <a:uFillTx/>
                <a:latin typeface="Calibri"/>
                <a:ea typeface="Calibri"/>
              </a:rPr>
              <a:t>#FDF6EC</a:t>
            </a:r>
            <a:endParaRPr b="0" lang="fr-FR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457200" y="306324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DESIGN SYSTEM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4"/>
          <p:cNvSpPr/>
          <p:nvPr/>
        </p:nvSpPr>
        <p:spPr>
          <a:xfrm>
            <a:off x="457200" y="33375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Tokens CSS dans app.css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Composants réutilisables : btn-cta, nav-link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Atomic Design : Atoms → Molecules → Organisms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rcRect l="0" t="0" r="53525" b="0"/>
          <a:stretch/>
        </p:blipFill>
        <p:spPr>
          <a:xfrm rot="14400">
            <a:off x="5316480" y="992880"/>
            <a:ext cx="3674880" cy="403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09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Responsive Design &amp; Accessibilité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Mobile-first avec Tailwind CSS v4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5"/>
          <p:cNvSpPr/>
          <p:nvPr/>
        </p:nvSpPr>
        <p:spPr>
          <a:xfrm>
            <a:off x="45720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3 breakpoints testés : Mobile · Tablette · Desktop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6"/>
          <p:cNvSpPr/>
          <p:nvPr/>
        </p:nvSpPr>
        <p:spPr>
          <a:xfrm>
            <a:off x="457200" y="201168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ACCESSIBILITÉ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457200" y="233172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Contraste vérifié (BlooAI) — conformité WCAG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Police Luciole (dyslexie)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Focus visible sur tous les éléments interactifs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Stack technique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Table 0"/>
          <p:cNvGraphicFramePr/>
          <p:nvPr/>
        </p:nvGraphicFramePr>
        <p:xfrm>
          <a:off x="457200" y="1508760"/>
          <a:ext cx="8229240" cy="288036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Couche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Technologie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Backend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PHP 8.3 + Symfony 7.4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Frontend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Twig + Tailwind CSS v4 + Stimulus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Temps réel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Symfony UX Live Components (Turbo)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Base de données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MySQL 8.0 + Doctrine ORM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Paiement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Stripe (Checkout + Webhooks)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Resend API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Déploiement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Docker + Railway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Assets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AssetMapper + ImportMap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Architecture MVC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Pattern : Model View Controller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343080" y="360000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Models : entités Doctrine (Produit, Commande, Utilisateur…)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Views : templates Twig + composants atomiques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Controllers : logique métier légère, délèguent aux Services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43080" y="1344240"/>
            <a:ext cx="8476920" cy="240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Structure du projet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Architecture Atomic Design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45720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Les composants UI sont organisés du plus simple au plus complexe :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6"/>
          <p:cNvSpPr/>
          <p:nvPr/>
        </p:nvSpPr>
        <p:spPr>
          <a:xfrm>
            <a:off x="457200" y="2011680"/>
            <a:ext cx="4023000" cy="100548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7"/>
          <p:cNvSpPr/>
          <p:nvPr/>
        </p:nvSpPr>
        <p:spPr>
          <a:xfrm>
            <a:off x="548640" y="21031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ATOMS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8"/>
          <p:cNvSpPr/>
          <p:nvPr/>
        </p:nvSpPr>
        <p:spPr>
          <a:xfrm>
            <a:off x="548640" y="235908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Bouton, lien, badge, input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9"/>
          <p:cNvSpPr/>
          <p:nvPr/>
        </p:nvSpPr>
        <p:spPr>
          <a:xfrm>
            <a:off x="4663440" y="2011680"/>
            <a:ext cx="4023000" cy="100548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4754880" y="21031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MOLECULES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4754880" y="235908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Carte produit, bouton panier, notation étoiles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2"/>
          <p:cNvSpPr/>
          <p:nvPr/>
        </p:nvSpPr>
        <p:spPr>
          <a:xfrm>
            <a:off x="457200" y="3154680"/>
            <a:ext cx="8229240" cy="100548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548640" y="3246120"/>
            <a:ext cx="8046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ORGANISMS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548640" y="350208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Header, footer, grille produits, panier live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Base de données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9 entités principales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5"/>
          <p:cNvSpPr/>
          <p:nvPr/>
        </p:nvSpPr>
        <p:spPr>
          <a:xfrm>
            <a:off x="457200" y="1600200"/>
            <a:ext cx="157248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57200" y="1600200"/>
            <a:ext cx="1572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Utilisateur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7"/>
          <p:cNvSpPr/>
          <p:nvPr/>
        </p:nvSpPr>
        <p:spPr>
          <a:xfrm>
            <a:off x="2139840" y="1600200"/>
            <a:ext cx="113364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2139840" y="1600200"/>
            <a:ext cx="113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Produit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9"/>
          <p:cNvSpPr/>
          <p:nvPr/>
        </p:nvSpPr>
        <p:spPr>
          <a:xfrm>
            <a:off x="3383280" y="1600200"/>
            <a:ext cx="113364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3383280" y="1600200"/>
            <a:ext cx="113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Recette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1"/>
          <p:cNvSpPr/>
          <p:nvPr/>
        </p:nvSpPr>
        <p:spPr>
          <a:xfrm>
            <a:off x="4626720" y="1600200"/>
            <a:ext cx="124308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4626720" y="1600200"/>
            <a:ext cx="12430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Commande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3"/>
          <p:cNvSpPr/>
          <p:nvPr/>
        </p:nvSpPr>
        <p:spPr>
          <a:xfrm>
            <a:off x="5980320" y="1600200"/>
            <a:ext cx="201132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4"/>
          <p:cNvSpPr/>
          <p:nvPr/>
        </p:nvSpPr>
        <p:spPr>
          <a:xfrm>
            <a:off x="5980320" y="160020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CommandeProduit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5"/>
          <p:cNvSpPr/>
          <p:nvPr/>
        </p:nvSpPr>
        <p:spPr>
          <a:xfrm>
            <a:off x="457200" y="2011680"/>
            <a:ext cx="109692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6"/>
          <p:cNvSpPr/>
          <p:nvPr/>
        </p:nvSpPr>
        <p:spPr>
          <a:xfrm>
            <a:off x="457200" y="20116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Panier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7"/>
          <p:cNvSpPr/>
          <p:nvPr/>
        </p:nvSpPr>
        <p:spPr>
          <a:xfrm>
            <a:off x="1664280" y="2011680"/>
            <a:ext cx="179172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8"/>
          <p:cNvSpPr/>
          <p:nvPr/>
        </p:nvSpPr>
        <p:spPr>
          <a:xfrm>
            <a:off x="1664280" y="2011680"/>
            <a:ext cx="1791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PanierProduit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9"/>
          <p:cNvSpPr/>
          <p:nvPr/>
        </p:nvSpPr>
        <p:spPr>
          <a:xfrm>
            <a:off x="3566160" y="2011680"/>
            <a:ext cx="109692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0"/>
          <p:cNvSpPr/>
          <p:nvPr/>
        </p:nvSpPr>
        <p:spPr>
          <a:xfrm>
            <a:off x="3566160" y="20116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Avis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1"/>
          <p:cNvSpPr/>
          <p:nvPr/>
        </p:nvSpPr>
        <p:spPr>
          <a:xfrm>
            <a:off x="4773240" y="2011680"/>
            <a:ext cx="1096920" cy="292320"/>
          </a:xfrm>
          <a:prstGeom prst="rect">
            <a:avLst/>
          </a:prstGeom>
          <a:solidFill>
            <a:srgbClr val="3b1f0e">
              <a:alpha val="12000"/>
            </a:srgbClr>
          </a:solidFill>
          <a:ln w="12700">
            <a:solidFill>
              <a:srgbClr val="6b3520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2"/>
          <p:cNvSpPr/>
          <p:nvPr/>
        </p:nvSpPr>
        <p:spPr>
          <a:xfrm>
            <a:off x="4773240" y="2011680"/>
            <a:ext cx="1096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Favori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3"/>
          <p:cNvSpPr/>
          <p:nvPr/>
        </p:nvSpPr>
        <p:spPr>
          <a:xfrm>
            <a:off x="457200" y="260604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Prix en DECIMAL(8,2) — pas de float (erreurs d'arrondi)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Prix dupliqué dans CommandeProduit — historique fiable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Enums PHP natifs (StatutCommande, Difficulté)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Catalogue &amp; Recettes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457200" y="1554480"/>
            <a:ext cx="4023000" cy="22856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548640" y="1645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CATALOGUE PRODUITS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548640" y="190188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Filtres par catégorie, tri par prix/note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Turbo Frames — navigation sans rechargement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Zoom image au clic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Système de favoris (AJAX)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4663440" y="1554480"/>
            <a:ext cx="4023000" cy="22856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8"/>
          <p:cNvSpPr/>
          <p:nvPr/>
        </p:nvSpPr>
        <p:spPr>
          <a:xfrm>
            <a:off x="4754880" y="1645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SECTION RECETTES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4754880" y="190188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Grille responsive identique aux produits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Panier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Sidebar panier persistante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457200" y="1600200"/>
            <a:ext cx="8229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Ouverture/fermeture via Stimulus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Mise à jour en temps réel (Live Component)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Ajout / retrait / suppression de produits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Confirmation avant vidage (dialog natif HTML)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Commande &amp; Paiement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Tunnel de commande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5"/>
          <p:cNvSpPr/>
          <p:nvPr/>
        </p:nvSpPr>
        <p:spPr>
          <a:xfrm>
            <a:off x="457200" y="1600200"/>
            <a:ext cx="1919880" cy="456840"/>
          </a:xfrm>
          <a:prstGeom prst="rect">
            <a:avLst/>
          </a:prstGeom>
          <a:solidFill>
            <a:srgbClr val="3b1f0e"/>
          </a:solidFill>
          <a:ln w="12700">
            <a:solidFill>
              <a:srgbClr val="3b1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457200" y="16002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Récap panier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2377440" y="1600200"/>
            <a:ext cx="22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8"/>
          <p:cNvSpPr/>
          <p:nvPr/>
        </p:nvSpPr>
        <p:spPr>
          <a:xfrm>
            <a:off x="2606040" y="1600200"/>
            <a:ext cx="1919880" cy="456840"/>
          </a:xfrm>
          <a:prstGeom prst="rect">
            <a:avLst/>
          </a:prstGeom>
          <a:solidFill>
            <a:srgbClr val="3b1f0e"/>
          </a:solidFill>
          <a:ln w="12700">
            <a:solidFill>
              <a:srgbClr val="3b1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2606040" y="16002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Stripe Checkout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4526280" y="1600200"/>
            <a:ext cx="22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1"/>
          <p:cNvSpPr/>
          <p:nvPr/>
        </p:nvSpPr>
        <p:spPr>
          <a:xfrm>
            <a:off x="4754880" y="1600200"/>
            <a:ext cx="1919880" cy="456840"/>
          </a:xfrm>
          <a:prstGeom prst="rect">
            <a:avLst/>
          </a:prstGeom>
          <a:solidFill>
            <a:srgbClr val="3b1f0e"/>
          </a:solidFill>
          <a:ln w="12700">
            <a:solidFill>
              <a:srgbClr val="3b1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4754880" y="16002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Webhook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6675120" y="1600200"/>
            <a:ext cx="228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4"/>
          <p:cNvSpPr/>
          <p:nvPr/>
        </p:nvSpPr>
        <p:spPr>
          <a:xfrm>
            <a:off x="6903720" y="1600200"/>
            <a:ext cx="1919880" cy="456840"/>
          </a:xfrm>
          <a:prstGeom prst="rect">
            <a:avLst/>
          </a:prstGeom>
          <a:solidFill>
            <a:srgbClr val="7bae7f">
              <a:alpha val="30000"/>
            </a:srgbClr>
          </a:solidFill>
          <a:ln w="12700">
            <a:solidFill>
              <a:srgbClr val="7bae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6903720" y="1600200"/>
            <a:ext cx="1919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d7341"/>
                </a:solidFill>
                <a:effectLst/>
                <a:uFillTx/>
                <a:latin typeface="Calibri"/>
                <a:ea typeface="Calibri"/>
              </a:rPr>
              <a:t>Email + PDF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457200" y="23317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STRIPE EN MODE TEST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457200" y="26517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Carte : 4242 4242 4242 4242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Webhook idempotent — protection contre les doublons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Emails transactionnels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4 emails automatiques — Resend API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9" name="Table 0"/>
          <p:cNvGraphicFramePr/>
          <p:nvPr/>
        </p:nvGraphicFramePr>
        <p:xfrm>
          <a:off x="457200" y="1508760"/>
          <a:ext cx="8229240" cy="18288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Déclencheur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 envoyé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Inscription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Lien de vérification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Compte vérifié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 de bienvenue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Commande confirmée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Confirmation + facture PDF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Commande annulée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Notification d'annulation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0" name="Shape 5"/>
          <p:cNvSpPr/>
          <p:nvPr/>
        </p:nvSpPr>
        <p:spPr>
          <a:xfrm>
            <a:off x="457200" y="3931920"/>
            <a:ext cx="8229240" cy="50256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594360" y="393192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Domaine samydessert.fr vérifié sur Resend API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Administration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Interface EasyAdmin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457200" y="1600200"/>
            <a:ext cx="82292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Gestion produits, recettes, commandes, utilisateurs, avis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Upload d'images via VichUploader (stockage local)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Accès réservé ROLE_ADMIN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457200" y="29718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SYSTÈME D'AVIS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457200" y="3246120"/>
            <a:ext cx="8229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Note 1-5 étoiles, note moyenne calculée dynamiquement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Un seul avis par utilisateur par produit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Détails UX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Soins apportés à l'expérience utilisateur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457200" y="1600200"/>
            <a:ext cx="4222800" cy="28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Focus visible sur les inputs (accessibilité clavier)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Messages d'erreur clairs sur le formulaire de connexion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Bouton panier animé (feedback visuel immédiat)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6" name="" descr=""/>
          <p:cNvPicPr/>
          <p:nvPr/>
        </p:nvPicPr>
        <p:blipFill>
          <a:blip r:embed="rId1"/>
          <a:stretch/>
        </p:blipFill>
        <p:spPr>
          <a:xfrm>
            <a:off x="4988880" y="0"/>
            <a:ext cx="4122720" cy="504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Sécurité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91" name="Table 0"/>
          <p:cNvGraphicFramePr/>
          <p:nvPr/>
        </p:nvGraphicFramePr>
        <p:xfrm>
          <a:off x="457200" y="1508760"/>
          <a:ext cx="8229240" cy="224028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Menace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Protection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CSRF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Token Symfony sur tous les formulaires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XSS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Échappement automatique Twig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Injection SQL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Doctrine ORM (requêtes préparées)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Accès non autorisé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Voters + ROLE_ADMIN / ROLE_USER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Mots de passe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Hachage automatique Symfony — Sodium/bcrypt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Données de paiement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Jamais stockées — délégation à Stripe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Code PHP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Exemple : entité Produit &amp; tokens CSS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5"/>
          <p:cNvSpPr/>
          <p:nvPr/>
        </p:nvSpPr>
        <p:spPr>
          <a:xfrm>
            <a:off x="457200" y="1600200"/>
            <a:ext cx="82292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Attributs Doctrine pour le mapping BDD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VichUploader pour la gestion des images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Tokens CSS dans app.css pour le design system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Tests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PHPUnit — Tests unitaires et fonctionnels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457200" y="160020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PanierServiceTest — ajout, suppression, calcul total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CommandeControllerTest — tunnel de commande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ContactControllerTest — validation formulaire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4" name="" descr=""/>
          <p:cNvPicPr/>
          <p:nvPr/>
        </p:nvPicPr>
        <p:blipFill>
          <a:blip r:embed="rId1"/>
          <a:stretch/>
        </p:blipFill>
        <p:spPr>
          <a:xfrm>
            <a:off x="4836240" y="360"/>
            <a:ext cx="430740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Déploiement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457200" y="1554480"/>
            <a:ext cx="4023000" cy="18284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548640" y="1645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DÉVELOPPEMENT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548640" y="1901880"/>
            <a:ext cx="3840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Docker Compose — 6 services (nginx, php-fpm, mysql, adminer, init, assets)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Pas d'installation locale requise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4663440" y="1554480"/>
            <a:ext cx="4023000" cy="18284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4754880" y="1645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PRODUCTION — RAILWAY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4754880" y="1901880"/>
            <a:ext cx="38401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Déploiement automatique sur push main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1 container Docker (Dockerfile à la racine)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Variables sensibles dans Railway (jamais commitées)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Gestion de version avec Git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Stratégie de branches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20" name="Table 0"/>
          <p:cNvGraphicFramePr/>
          <p:nvPr/>
        </p:nvGraphicFramePr>
        <p:xfrm>
          <a:off x="457200" y="1508760"/>
          <a:ext cx="822924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Branche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Rôle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dev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Développement quotidien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main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3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Code stable → déploiement Railway automatique</a:t>
                      </a:r>
                      <a:endParaRPr b="0" lang="fr-FR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1" name="Text 5"/>
          <p:cNvSpPr/>
          <p:nvPr/>
        </p:nvSpPr>
        <p:spPr>
          <a:xfrm>
            <a:off x="457200" y="269748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CONVENTIONAL COMMITS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6"/>
          <p:cNvSpPr/>
          <p:nvPr/>
        </p:nvSpPr>
        <p:spPr>
          <a:xfrm>
            <a:off x="457200" y="3017520"/>
            <a:ext cx="1919880" cy="319680"/>
          </a:xfrm>
          <a:prstGeom prst="rect">
            <a:avLst/>
          </a:prstGeom>
          <a:solidFill>
            <a:srgbClr val="7bae7f">
              <a:alpha val="20000"/>
            </a:srgbClr>
          </a:solidFill>
          <a:ln w="12700">
            <a:solidFill>
              <a:srgbClr val="7bae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7"/>
          <p:cNvSpPr/>
          <p:nvPr/>
        </p:nvSpPr>
        <p:spPr>
          <a:xfrm>
            <a:off x="457200" y="30175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feat: fonctionnalité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8"/>
          <p:cNvSpPr/>
          <p:nvPr/>
        </p:nvSpPr>
        <p:spPr>
          <a:xfrm>
            <a:off x="2560320" y="3017520"/>
            <a:ext cx="1919880" cy="319680"/>
          </a:xfrm>
          <a:prstGeom prst="rect">
            <a:avLst/>
          </a:prstGeom>
          <a:solidFill>
            <a:srgbClr val="c0392b">
              <a:alpha val="20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9"/>
          <p:cNvSpPr/>
          <p:nvPr/>
        </p:nvSpPr>
        <p:spPr>
          <a:xfrm>
            <a:off x="2560320" y="30175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fix: bug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0"/>
          <p:cNvSpPr/>
          <p:nvPr/>
        </p:nvSpPr>
        <p:spPr>
          <a:xfrm>
            <a:off x="4663440" y="3017520"/>
            <a:ext cx="1919880" cy="319680"/>
          </a:xfrm>
          <a:prstGeom prst="rect">
            <a:avLst/>
          </a:prstGeom>
          <a:solidFill>
            <a:srgbClr val="3b1f0e">
              <a:alpha val="20000"/>
            </a:srgbClr>
          </a:solidFill>
          <a:ln w="12700">
            <a:solidFill>
              <a:srgbClr val="3b1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1"/>
          <p:cNvSpPr/>
          <p:nvPr/>
        </p:nvSpPr>
        <p:spPr>
          <a:xfrm>
            <a:off x="4663440" y="30175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docs: documentation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2"/>
          <p:cNvSpPr/>
          <p:nvPr/>
        </p:nvSpPr>
        <p:spPr>
          <a:xfrm>
            <a:off x="6766560" y="3017520"/>
            <a:ext cx="1919880" cy="319680"/>
          </a:xfrm>
          <a:prstGeom prst="rect">
            <a:avLst/>
          </a:prstGeom>
          <a:solidFill>
            <a:srgbClr val="3b1f0e">
              <a:alpha val="20000"/>
            </a:srgbClr>
          </a:solidFill>
          <a:ln w="12700">
            <a:solidFill>
              <a:srgbClr val="3b1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3"/>
          <p:cNvSpPr/>
          <p:nvPr/>
        </p:nvSpPr>
        <p:spPr>
          <a:xfrm>
            <a:off x="6766560" y="301752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refactor: refactoring</a:t>
            </a:r>
            <a:endParaRPr b="0" lang="fr-F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Veille technologique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4"/>
          <p:cNvSpPr/>
          <p:nvPr/>
        </p:nvSpPr>
        <p:spPr>
          <a:xfrm>
            <a:off x="457200" y="150876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Stack Overflow, GitHub Issues — résolution de problèmes concrets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YouTube (Grafikart, Symfony Online Conference) — démonstrations visuelles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IA (Claude, ChatGPT) — compréhension rapide, vérification des réponses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5"/>
          <p:cNvSpPr/>
          <p:nvPr/>
        </p:nvSpPr>
        <p:spPr>
          <a:xfrm>
            <a:off x="457200" y="2697480"/>
            <a:ext cx="6400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TECHNOLOGIES RÉCENTES ADOPTÉES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6" name="Table 0"/>
          <p:cNvGraphicFramePr/>
          <p:nvPr/>
        </p:nvGraphicFramePr>
        <p:xfrm>
          <a:off x="457200" y="3017520"/>
          <a:ext cx="8229240" cy="164592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Technologie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Nouveauté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Symfony 7.4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Live Components, UX Twig Components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Tailwind CSS v4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Tokens CSS natifs, pas de config.js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PHP 8.3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Enums natifs, readonly properties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Resend API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Alternative moderne à SMTP pour la prod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AssetMapper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Remplace Webpack Encore — zéro configuration</a:t>
                      </a:r>
                      <a:endParaRPr b="0" lang="fr-FR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Difficultés rencontrées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1" name="Table 0"/>
          <p:cNvGraphicFramePr/>
          <p:nvPr/>
        </p:nvGraphicFramePr>
        <p:xfrm>
          <a:off x="457200" y="1508760"/>
          <a:ext cx="8229240" cy="208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Difficulté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trike="noStrike" u="non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Solution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Webhook Stripe en local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Stripe CLI (stripe listen)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Emails bloqués depuis Railway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Migration SMTP → Resend API (HTTP)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Tailwind watch sur Docker Windows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Script de recompilation toutes les 3s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Turbo Frames &amp; rechargement partiel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Identification précise des frames Turbo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  <a:tr h="3474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VichUploader + AssetMapper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00" strike="noStrike" u="none">
                          <a:solidFill>
                            <a:srgbClr val="3b1f0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Configuration manuelle du mapping</a:t>
                      </a:r>
                      <a:endParaRPr b="0" lang="fr-FR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6480">
                      <a:solidFill>
                        <a:srgbClr val="d9c9b5"/>
                      </a:solidFill>
                      <a:prstDash val="solid"/>
                    </a:lnL>
                    <a:lnR w="6480">
                      <a:solidFill>
                        <a:srgbClr val="d9c9b5"/>
                      </a:solidFill>
                      <a:prstDash val="solid"/>
                    </a:lnR>
                    <a:lnT w="6480">
                      <a:solidFill>
                        <a:srgbClr val="d9c9b5"/>
                      </a:solidFill>
                      <a:prstDash val="solid"/>
                    </a:lnT>
                    <a:lnB w="6480">
                      <a:solidFill>
                        <a:srgbClr val="d9c9b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Améliorations futures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4"/>
          <p:cNvSpPr/>
          <p:nvPr/>
        </p:nvSpPr>
        <p:spPr>
          <a:xfrm>
            <a:off x="457200" y="1554480"/>
            <a:ext cx="4023000" cy="22856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5"/>
          <p:cNvSpPr/>
          <p:nvPr/>
        </p:nvSpPr>
        <p:spPr>
          <a:xfrm>
            <a:off x="548640" y="1645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FONCTIONNALITÉS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6"/>
          <p:cNvSpPr/>
          <p:nvPr/>
        </p:nvSpPr>
        <p:spPr>
          <a:xfrm>
            <a:off x="548640" y="190188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Ingrédients dans les recettes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Modération des avis avant publication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Variations de produits (taille, parfum)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Recettes proposées par les utilisateurs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7"/>
          <p:cNvSpPr/>
          <p:nvPr/>
        </p:nvSpPr>
        <p:spPr>
          <a:xfrm>
            <a:off x="4663440" y="1554480"/>
            <a:ext cx="4023000" cy="22856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8"/>
          <p:cNvSpPr/>
          <p:nvPr/>
        </p:nvSpPr>
        <p:spPr>
          <a:xfrm>
            <a:off x="4754880" y="164592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TECHNIQUE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9"/>
          <p:cNvSpPr/>
          <p:nvPr/>
        </p:nvSpPr>
        <p:spPr>
          <a:xfrm>
            <a:off x="4754880" y="190188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Remplacer php -S par Nginx + PHP-FPM en prod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Token de vérification email avec expiration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Token CSRF sur les actions AJAX (favoris)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• Internationalisation (symfony/translation)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Démonstration live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411480" y="107892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6b3520">
                    <a:alpha val="70000"/>
                  </a:srgbClr>
                </a:solidFill>
                <a:effectLst/>
                <a:uFillTx/>
                <a:latin typeface="Calibri"/>
                <a:ea typeface="Calibri"/>
              </a:rPr>
              <a:t>Sur le site en production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457200" y="15087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URL : https://samydessert-production.up.railway.app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457200" y="19659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PARCOURS PRÉVU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457200" y="22402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Accueil → catalogue → fiche produit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Ajout au panier → commande → paiement Stripe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Interface admin</a:t>
            </a:r>
            <a:endParaRPr b="0" lang="fr-F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457200" y="32461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COMPTES DE DÉMONSTRATION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9"/>
          <p:cNvSpPr/>
          <p:nvPr/>
        </p:nvSpPr>
        <p:spPr>
          <a:xfrm>
            <a:off x="457200" y="3520440"/>
            <a:ext cx="4023000" cy="9140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10"/>
          <p:cNvSpPr/>
          <p:nvPr/>
        </p:nvSpPr>
        <p:spPr>
          <a:xfrm>
            <a:off x="548640" y="3611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ADMIN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548640" y="38678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samy@admin.com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password123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2"/>
          <p:cNvSpPr/>
          <p:nvPr/>
        </p:nvSpPr>
        <p:spPr>
          <a:xfrm>
            <a:off x="4663440" y="3520440"/>
            <a:ext cx="4023000" cy="914040"/>
          </a:xfrm>
          <a:prstGeom prst="rect">
            <a:avLst/>
          </a:prstGeom>
          <a:solidFill>
            <a:srgbClr val="3b1f0e">
              <a:alpha val="7000"/>
            </a:srgbClr>
          </a:solidFill>
          <a:ln w="12700">
            <a:solidFill>
              <a:srgbClr val="6b3520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4754880" y="361188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UTILISATEUR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4"/>
          <p:cNvSpPr/>
          <p:nvPr/>
        </p:nvSpPr>
        <p:spPr>
          <a:xfrm>
            <a:off x="4754880" y="3867840"/>
            <a:ext cx="3840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test@test.com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password123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3640" cy="1371240"/>
          </a:xfrm>
          <a:prstGeom prst="rect">
            <a:avLst/>
          </a:prstGeom>
          <a:solidFill>
            <a:srgbClr val="fdf6ec"/>
          </a:solidFill>
          <a:ln w="12700">
            <a:solidFill>
              <a:srgbClr val="fdf6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0" y="1344240"/>
            <a:ext cx="9143640" cy="22680"/>
          </a:xfrm>
          <a:prstGeom prst="rect">
            <a:avLst/>
          </a:prstGeom>
          <a:solidFill>
            <a:srgbClr val="d9c9b5"/>
          </a:solidFill>
          <a:ln w="12700">
            <a:solidFill>
              <a:srgbClr val="d9c9b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1960" bIns="-21960" anchor="t">
            <a:noAutofit/>
          </a:bodyPr>
          <a:p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411480" y="25596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3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411480" y="50292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3b1f0e"/>
                </a:solidFill>
                <a:effectLst/>
                <a:uFillTx/>
                <a:latin typeface="Georgia"/>
                <a:ea typeface="Georgia"/>
              </a:rPr>
              <a:t>Bilan personnel</a:t>
            </a:r>
            <a:endParaRPr b="0" lang="fr-F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457200" y="150876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400" strike="noStrike" u="non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CE QUE J'AI APPRIS</a:t>
            </a:r>
            <a:endParaRPr b="0" lang="fr-F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457200" y="1783080"/>
            <a:ext cx="82292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Structurer un projet Symfony de A à Z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Travailler avec Docker en environnement de dev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Intégrer des services tiers (Stripe, Resend, VichUploader)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Utiliser l'IA comme outil d'apprentissage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Déployer en production sur Railway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Concevoir une identité visuelle cohérente (logo, palette, design system)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Appliquer les principes d'accessibilité web (WCAG, Luciole, focus clavier)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3b1f0e"/>
              </a:buClr>
              <a:buFont typeface="Symbol" charset="2"/>
              <a:buChar char=""/>
            </a:pPr>
            <a:r>
              <a:rPr b="0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Découper un projet en tâches et responsabilités claires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6"/>
          <p:cNvSpPr/>
          <p:nvPr/>
        </p:nvSpPr>
        <p:spPr>
          <a:xfrm>
            <a:off x="457200" y="4251960"/>
            <a:ext cx="8229240" cy="50256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594360" y="425196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3b1f0e"/>
                </a:solidFill>
                <a:effectLst/>
                <a:uFillTx/>
                <a:latin typeface="Calibri"/>
                <a:ea typeface="Calibri"/>
              </a:rPr>
              <a:t>Voir un projet passer d'une idée à un produit réel, en ligne, utilisable — et comprendre chaque brique qui le compose.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b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457200" y="10972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Merci !</a:t>
            </a:r>
            <a:endParaRPr b="0" lang="fr-FR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457200" y="228600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ffff">
                    <a:alpha val="60000"/>
                  </a:srgbClr>
                </a:solidFill>
                <a:effectLst/>
                <a:uFillTx/>
                <a:latin typeface="Calibri"/>
                <a:ea typeface="Calibri"/>
              </a:rPr>
              <a:t>SamyDessert — Boutique en ligne de pâtisseries artisanales</a:t>
            </a:r>
            <a:endParaRPr b="0" lang="fr-FR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2"/>
          <p:cNvSpPr/>
          <p:nvPr/>
        </p:nvSpPr>
        <p:spPr>
          <a:xfrm>
            <a:off x="3200400" y="2926080"/>
            <a:ext cx="2742840" cy="411120"/>
          </a:xfrm>
          <a:prstGeom prst="roundRect">
            <a:avLst>
              <a:gd name="adj" fmla="val 22222"/>
            </a:avLst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3200400" y="29260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samydessert-production.up.railway.app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457200" y="356616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ffffff">
                    <a:alpha val="50000"/>
                  </a:srgbClr>
                </a:solidFill>
                <a:effectLst/>
                <a:uFillTx/>
                <a:latin typeface="Calibri"/>
                <a:ea typeface="Calibri"/>
              </a:rPr>
              <a:t>Prêt pour vos questions</a:t>
            </a:r>
            <a:endParaRPr b="0" lang="fr-FR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LibreOffice/25.2.7.2$Windows_X86_64 LibreOffice_project/5cbfd1ab6520636bb5f7b99185aa69bd7456825d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2026-04-15T14:17:56Z</dcterms:created>
  <dc:creator>Samy Ben Hamida</dc:creator>
  <dc:description/>
  <dc:language>fr-FR</dc:language>
  <cp:lastModifiedBy/>
  <dcterms:modified xsi:type="dcterms:W3CDTF">2026-04-15T17:21:25Z</dcterms:modified>
  <cp:revision>2</cp:revision>
  <dc:subject>PptxGenJS Presentation</dc:subject>
  <dc:title>SamyDessert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